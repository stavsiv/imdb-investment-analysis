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ton" charset="1" panose="00000500000000000000"/>
      <p:regular r:id="rId16"/>
    </p:embeddedFont>
    <p:embeddedFont>
      <p:font typeface="Poppins" charset="1" panose="00000500000000000000"/>
      <p:regular r:id="rId17"/>
    </p:embeddedFont>
    <p:embeddedFont>
      <p:font typeface="Poppins Italics" charset="1" panose="000005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https://stephenfollows.com/p/profitable-horror-movies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" r="0" b="-8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04033" y="3198016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335260" y="-1339862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2905349" y="6543762"/>
            <a:ext cx="19828823" cy="4981992"/>
          </a:xfrm>
          <a:custGeom>
            <a:avLst/>
            <a:gdLst/>
            <a:ahLst/>
            <a:cxnLst/>
            <a:rect r="r" b="b" t="t" l="l"/>
            <a:pathLst>
              <a:path h="4981992" w="19828823">
                <a:moveTo>
                  <a:pt x="19828823" y="0"/>
                </a:moveTo>
                <a:lnTo>
                  <a:pt x="0" y="0"/>
                </a:lnTo>
                <a:lnTo>
                  <a:pt x="0" y="4981992"/>
                </a:lnTo>
                <a:lnTo>
                  <a:pt x="19828823" y="4981992"/>
                </a:lnTo>
                <a:lnTo>
                  <a:pt x="19828823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576957">
            <a:off x="-1964806" y="95909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444395">
            <a:off x="11949630" y="95909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8162" y="3064666"/>
            <a:ext cx="10502989" cy="1160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68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Investing Like A Star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8162" y="4520195"/>
            <a:ext cx="9510826" cy="2341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8"/>
              </a:lnSpc>
            </a:pPr>
            <a:r>
              <a:rPr lang="en-US" sz="29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Insights, conclusions, and practical actions for smart investment decisions</a:t>
            </a:r>
          </a:p>
          <a:p>
            <a:pPr algn="l">
              <a:lnSpc>
                <a:spcPts val="3982"/>
              </a:lnSpc>
            </a:pPr>
          </a:p>
          <a:p>
            <a:pPr algn="l">
              <a:lnSpc>
                <a:spcPts val="3132"/>
              </a:lnSpc>
            </a:pPr>
            <a:r>
              <a:rPr lang="en-US" sz="223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Data-driven recommendations based on IMDb insights and investor preferences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07908" y="7377856"/>
            <a:ext cx="1951360" cy="141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62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Stav Sivilya</a:t>
            </a:r>
          </a:p>
          <a:p>
            <a:pPr algn="just">
              <a:lnSpc>
                <a:spcPts val="2262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Ziv Mordoch</a:t>
            </a:r>
          </a:p>
          <a:p>
            <a:pPr algn="just">
              <a:lnSpc>
                <a:spcPts val="2262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Lotem Cohen</a:t>
            </a:r>
          </a:p>
          <a:p>
            <a:pPr algn="just">
              <a:lnSpc>
                <a:spcPts val="2262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Omri Buhbut</a:t>
            </a:r>
          </a:p>
          <a:p>
            <a:pPr algn="just">
              <a:lnSpc>
                <a:spcPts val="2262"/>
              </a:lnSpc>
            </a:pPr>
            <a:r>
              <a:rPr lang="en-US" sz="161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Oria Yaakov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118989" y="2472017"/>
            <a:ext cx="6037668" cy="3521239"/>
            <a:chOff x="0" y="0"/>
            <a:chExt cx="986987" cy="5756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6987" cy="575622"/>
            </a:xfrm>
            <a:custGeom>
              <a:avLst/>
              <a:gdLst/>
              <a:ahLst/>
              <a:cxnLst/>
              <a:rect r="r" b="b" t="t" l="l"/>
              <a:pathLst>
                <a:path h="575622" w="986987">
                  <a:moveTo>
                    <a:pt x="80783" y="0"/>
                  </a:moveTo>
                  <a:lnTo>
                    <a:pt x="906204" y="0"/>
                  </a:lnTo>
                  <a:cubicBezTo>
                    <a:pt x="950819" y="0"/>
                    <a:pt x="986987" y="36168"/>
                    <a:pt x="986987" y="80783"/>
                  </a:cubicBezTo>
                  <a:lnTo>
                    <a:pt x="986987" y="494839"/>
                  </a:lnTo>
                  <a:cubicBezTo>
                    <a:pt x="986987" y="516264"/>
                    <a:pt x="978476" y="536812"/>
                    <a:pt x="963326" y="551961"/>
                  </a:cubicBezTo>
                  <a:cubicBezTo>
                    <a:pt x="948176" y="567111"/>
                    <a:pt x="927629" y="575622"/>
                    <a:pt x="906204" y="575622"/>
                  </a:cubicBezTo>
                  <a:lnTo>
                    <a:pt x="80783" y="575622"/>
                  </a:lnTo>
                  <a:cubicBezTo>
                    <a:pt x="36168" y="575622"/>
                    <a:pt x="0" y="539454"/>
                    <a:pt x="0" y="494839"/>
                  </a:cubicBezTo>
                  <a:lnTo>
                    <a:pt x="0" y="80783"/>
                  </a:lnTo>
                  <a:cubicBezTo>
                    <a:pt x="0" y="36168"/>
                    <a:pt x="36168" y="0"/>
                    <a:pt x="8078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7154" r="0" b="-715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" r="0" b="-8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3315" y="4098037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10549" y="-1957528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2436617" y="921561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713023" y="7499857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348860" y="3628769"/>
            <a:ext cx="7361117" cy="2594794"/>
          </a:xfrm>
          <a:custGeom>
            <a:avLst/>
            <a:gdLst/>
            <a:ahLst/>
            <a:cxnLst/>
            <a:rect r="r" b="b" t="t" l="l"/>
            <a:pathLst>
              <a:path h="2594794" w="7361117">
                <a:moveTo>
                  <a:pt x="0" y="0"/>
                </a:moveTo>
                <a:lnTo>
                  <a:pt x="7361117" y="0"/>
                </a:lnTo>
                <a:lnTo>
                  <a:pt x="7361117" y="2594793"/>
                </a:lnTo>
                <a:lnTo>
                  <a:pt x="0" y="25947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77778" y="6481107"/>
            <a:ext cx="10703281" cy="3465187"/>
          </a:xfrm>
          <a:custGeom>
            <a:avLst/>
            <a:gdLst/>
            <a:ahLst/>
            <a:cxnLst/>
            <a:rect r="r" b="b" t="t" l="l"/>
            <a:pathLst>
              <a:path h="3465187" w="10703281">
                <a:moveTo>
                  <a:pt x="0" y="0"/>
                </a:moveTo>
                <a:lnTo>
                  <a:pt x="10703281" y="0"/>
                </a:lnTo>
                <a:lnTo>
                  <a:pt x="10703281" y="3465187"/>
                </a:lnTo>
                <a:lnTo>
                  <a:pt x="0" y="34651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9621" y="891692"/>
            <a:ext cx="13762454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Our Focus: The 2000–2015 Film Market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9621" y="2256945"/>
            <a:ext cx="14696558" cy="137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Since IMDb launched in 1990 and contains very limited data from earlier years, we</a:t>
            </a: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focused our analysis on films released between 2000 and 2015 to ensure greater reliability and consistency in the results.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" r="0" b="-8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3315" y="4098037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10549" y="-1957528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2436617" y="921561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713023" y="7499857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294892" y="6808209"/>
            <a:ext cx="12145336" cy="3248877"/>
          </a:xfrm>
          <a:custGeom>
            <a:avLst/>
            <a:gdLst/>
            <a:ahLst/>
            <a:cxnLst/>
            <a:rect r="r" b="b" t="t" l="l"/>
            <a:pathLst>
              <a:path h="3248877" w="12145336">
                <a:moveTo>
                  <a:pt x="0" y="0"/>
                </a:moveTo>
                <a:lnTo>
                  <a:pt x="12145337" y="0"/>
                </a:lnTo>
                <a:lnTo>
                  <a:pt x="12145337" y="3248878"/>
                </a:lnTo>
                <a:lnTo>
                  <a:pt x="0" y="32488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91371" y="3707920"/>
            <a:ext cx="3457139" cy="2873151"/>
          </a:xfrm>
          <a:custGeom>
            <a:avLst/>
            <a:gdLst/>
            <a:ahLst/>
            <a:cxnLst/>
            <a:rect r="r" b="b" t="t" l="l"/>
            <a:pathLst>
              <a:path h="2873151" w="3457139">
                <a:moveTo>
                  <a:pt x="0" y="0"/>
                </a:moveTo>
                <a:lnTo>
                  <a:pt x="3457139" y="0"/>
                </a:lnTo>
                <a:lnTo>
                  <a:pt x="3457139" y="2873151"/>
                </a:lnTo>
                <a:lnTo>
                  <a:pt x="0" y="28731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7248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9621" y="882167"/>
            <a:ext cx="13967810" cy="157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sz="5626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Market Focus: The U.S. Film Industry (2000–2015)</a:t>
            </a:r>
          </a:p>
          <a:p>
            <a:pPr algn="l">
              <a:lnSpc>
                <a:spcPts val="618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79621" y="2218845"/>
            <a:ext cx="14696558" cy="137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During 2000–2015, the U.S. shows the highest volume of film data </a:t>
            </a: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on IMDb, making it the most reliable market for analysis, a focus that aligns with extensive research highlighting Hollywood’s long-standing dominance in global film markets.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" r="0" b="-8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3315" y="4098037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10549" y="-1957528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2436617" y="921561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713023" y="7499857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880222" y="4098037"/>
            <a:ext cx="4232557" cy="5275652"/>
          </a:xfrm>
          <a:custGeom>
            <a:avLst/>
            <a:gdLst/>
            <a:ahLst/>
            <a:cxnLst/>
            <a:rect r="r" b="b" t="t" l="l"/>
            <a:pathLst>
              <a:path h="5275652" w="4232557">
                <a:moveTo>
                  <a:pt x="0" y="0"/>
                </a:moveTo>
                <a:lnTo>
                  <a:pt x="4232557" y="0"/>
                </a:lnTo>
                <a:lnTo>
                  <a:pt x="4232557" y="5275652"/>
                </a:lnTo>
                <a:lnTo>
                  <a:pt x="0" y="52756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9621" y="882167"/>
            <a:ext cx="13967810" cy="79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sz="5626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High-Volume Genres in the U.S. Film Market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9621" y="2256945"/>
            <a:ext cx="14696558" cy="91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We focus on genres with 90+</a:t>
            </a: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films released between 2000 and 2015 to base insights on consistent and reliable data.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" r="0" b="-8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3315" y="4098037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10549" y="-1957528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2436617" y="921561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713023" y="7499857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081875" y="3504944"/>
            <a:ext cx="10031226" cy="3557329"/>
          </a:xfrm>
          <a:custGeom>
            <a:avLst/>
            <a:gdLst/>
            <a:ahLst/>
            <a:cxnLst/>
            <a:rect r="r" b="b" t="t" l="l"/>
            <a:pathLst>
              <a:path h="3557329" w="10031226">
                <a:moveTo>
                  <a:pt x="0" y="0"/>
                </a:moveTo>
                <a:lnTo>
                  <a:pt x="10031227" y="0"/>
                </a:lnTo>
                <a:lnTo>
                  <a:pt x="10031227" y="3557329"/>
                </a:lnTo>
                <a:lnTo>
                  <a:pt x="0" y="35573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9621" y="882167"/>
            <a:ext cx="13967810" cy="79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sz="5626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Analysis 1 - ROI by Genre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9621" y="2256945"/>
            <a:ext cx="14696558" cy="91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An analysis of ROI and risk levels (based on standard deviation) across selected genres in relation to production budget.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60844" y="7643298"/>
            <a:ext cx="12700469" cy="228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Horror and Biography delivers the highest ROI, but also carries a very high level of risk. </a:t>
            </a:r>
          </a:p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For investors with a medium budget and low risk appetite, Comedy and Drama offer the most stable options, with moderate budgets and consistent returns.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" r="0" b="-8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3315" y="4098037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10549" y="-1957528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2436617" y="921561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713023" y="7499857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7549" y="4543169"/>
            <a:ext cx="9614687" cy="820766"/>
          </a:xfrm>
          <a:custGeom>
            <a:avLst/>
            <a:gdLst/>
            <a:ahLst/>
            <a:cxnLst/>
            <a:rect r="r" b="b" t="t" l="l"/>
            <a:pathLst>
              <a:path h="820766" w="9614687">
                <a:moveTo>
                  <a:pt x="0" y="0"/>
                </a:moveTo>
                <a:lnTo>
                  <a:pt x="9614687" y="0"/>
                </a:lnTo>
                <a:lnTo>
                  <a:pt x="9614687" y="820766"/>
                </a:lnTo>
                <a:lnTo>
                  <a:pt x="0" y="820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538893" y="4336162"/>
            <a:ext cx="7264187" cy="4340352"/>
          </a:xfrm>
          <a:custGeom>
            <a:avLst/>
            <a:gdLst/>
            <a:ahLst/>
            <a:cxnLst/>
            <a:rect r="r" b="b" t="t" l="l"/>
            <a:pathLst>
              <a:path h="4340352" w="7264187">
                <a:moveTo>
                  <a:pt x="0" y="0"/>
                </a:moveTo>
                <a:lnTo>
                  <a:pt x="7264188" y="0"/>
                </a:lnTo>
                <a:lnTo>
                  <a:pt x="7264188" y="4340352"/>
                </a:lnTo>
                <a:lnTo>
                  <a:pt x="0" y="43403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79621" y="882167"/>
            <a:ext cx="13967810" cy="79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sz="5626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Analysis 1 - Deep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9621" y="2256945"/>
            <a:ext cx="14696558" cy="2286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Following our supporting industry research, we shift our focus to Horror, the genre that consistently delivers strong returns with controlled budgets.</a:t>
            </a:r>
          </a:p>
          <a:p>
            <a:pPr algn="l">
              <a:lnSpc>
                <a:spcPts val="3662"/>
              </a:lnSpc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After excluding films with extreme budgets, Horror maintains a relatively high ROI while the risk level (STD) decreases significantly to a more reasonable range.</a:t>
            </a:r>
          </a:p>
          <a:p>
            <a:pPr algn="l">
              <a:lnSpc>
                <a:spcPts val="3662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960844" y="8913854"/>
            <a:ext cx="12700469" cy="91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Conclusion: Horror films represent a strong and attractive investment opportunity.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" r="0" b="-8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3315" y="4098037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10549" y="-1957528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2436617" y="921561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713023" y="7499857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34327" y="4888102"/>
            <a:ext cx="10419345" cy="1556259"/>
          </a:xfrm>
          <a:custGeom>
            <a:avLst/>
            <a:gdLst/>
            <a:ahLst/>
            <a:cxnLst/>
            <a:rect r="r" b="b" t="t" l="l"/>
            <a:pathLst>
              <a:path h="1556259" w="10419345">
                <a:moveTo>
                  <a:pt x="0" y="0"/>
                </a:moveTo>
                <a:lnTo>
                  <a:pt x="10419346" y="0"/>
                </a:lnTo>
                <a:lnTo>
                  <a:pt x="10419346" y="1556259"/>
                </a:lnTo>
                <a:lnTo>
                  <a:pt x="0" y="1556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9621" y="882167"/>
            <a:ext cx="13967810" cy="79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sz="5626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Analysis 2 - Correlation between FB likes and ROI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9621" y="2256945"/>
            <a:ext cx="14838326" cy="91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Many investors associate social media popularity and engagement with a film’s success, so we examined the correlation between online popularity and ROI.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60844" y="8913854"/>
            <a:ext cx="12440562" cy="914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Contrary to common belief, our findings suggest that social media popularity is not a strong predictor of ROI.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" r="0" b="-8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3315" y="4098037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10549" y="-1957528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2436617" y="921561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713023" y="7499857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22744" y="8637629"/>
            <a:ext cx="12972650" cy="137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Low-budget films can be a good investment but involve very high risk. Mid-budget films can also be a good investment, while carrying a much lower and more reasonable level of risk.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715715" y="4250437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06074" y="3766147"/>
            <a:ext cx="8401620" cy="4421353"/>
          </a:xfrm>
          <a:custGeom>
            <a:avLst/>
            <a:gdLst/>
            <a:ahLst/>
            <a:cxnLst/>
            <a:rect r="r" b="b" t="t" l="l"/>
            <a:pathLst>
              <a:path h="4421353" w="8401620">
                <a:moveTo>
                  <a:pt x="0" y="0"/>
                </a:moveTo>
                <a:lnTo>
                  <a:pt x="8401620" y="0"/>
                </a:lnTo>
                <a:lnTo>
                  <a:pt x="8401620" y="4421353"/>
                </a:lnTo>
                <a:lnTo>
                  <a:pt x="0" y="44213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775893" y="5494666"/>
            <a:ext cx="7143074" cy="964315"/>
          </a:xfrm>
          <a:custGeom>
            <a:avLst/>
            <a:gdLst/>
            <a:ahLst/>
            <a:cxnLst/>
            <a:rect r="r" b="b" t="t" l="l"/>
            <a:pathLst>
              <a:path h="964315" w="7143074">
                <a:moveTo>
                  <a:pt x="0" y="0"/>
                </a:moveTo>
                <a:lnTo>
                  <a:pt x="7143074" y="0"/>
                </a:lnTo>
                <a:lnTo>
                  <a:pt x="7143074" y="964315"/>
                </a:lnTo>
                <a:lnTo>
                  <a:pt x="0" y="9643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9621" y="882167"/>
            <a:ext cx="13967810" cy="79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sz="5626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Analysis 3 - “Good Investment” by Budget tier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9621" y="2110855"/>
            <a:ext cx="14838326" cy="137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Analysis of ROI and risk by budget tier, showing the share of films classified as a “good investment” using a binary index (1 = ROI above 50%, 0 = otherwise), alongside average ROI and standard deviation.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" r="0" b="-8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3315" y="4098037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10549" y="-1957528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2436617" y="921561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713023" y="7499857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15715" y="4250437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79621" y="882167"/>
            <a:ext cx="13967810" cy="79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sz="5626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Recommendation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110855"/>
            <a:ext cx="13592663" cy="457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4840" indent="-282420" lvl="1">
              <a:lnSpc>
                <a:spcPts val="3662"/>
              </a:lnSpc>
              <a:buFont typeface="Arial"/>
              <a:buChar char="•"/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Certain genres consistently outperform others in ROI. After an in-depth analysis, the Horror genre stands out as an excellent investment channel with strong return potential.</a:t>
            </a:r>
          </a:p>
          <a:p>
            <a:pPr algn="l">
              <a:lnSpc>
                <a:spcPts val="3662"/>
              </a:lnSpc>
            </a:pPr>
          </a:p>
          <a:p>
            <a:pPr algn="l" marL="564840" indent="-282420" lvl="1">
              <a:lnSpc>
                <a:spcPts val="3662"/>
              </a:lnSpc>
              <a:buFont typeface="Arial"/>
              <a:buChar char="•"/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Social media popularity should not be treated as a reliable predictor of ROI, as it demonstrates weak correlation with financial performance.</a:t>
            </a:r>
          </a:p>
          <a:p>
            <a:pPr algn="l">
              <a:lnSpc>
                <a:spcPts val="3662"/>
              </a:lnSpc>
            </a:pPr>
          </a:p>
          <a:p>
            <a:pPr algn="l" marL="564840" indent="-282420" lvl="1">
              <a:lnSpc>
                <a:spcPts val="3662"/>
              </a:lnSpc>
              <a:spcBef>
                <a:spcPct val="0"/>
              </a:spcBef>
              <a:buFont typeface="Arial"/>
              <a:buChar char="•"/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Budget level directly affects both return and risk. Low-budget films can be a good investment but carry high volatility, while mid-budget films maintain strong upside with a far more stable and reasonable risk profile.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33" r="0" b="-8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63315" y="4098037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510549" y="-1957528"/>
            <a:ext cx="7635488" cy="7623759"/>
          </a:xfrm>
          <a:custGeom>
            <a:avLst/>
            <a:gdLst/>
            <a:ahLst/>
            <a:cxnLst/>
            <a:rect r="r" b="b" t="t" l="l"/>
            <a:pathLst>
              <a:path h="7623759" w="7635488">
                <a:moveTo>
                  <a:pt x="0" y="0"/>
                </a:moveTo>
                <a:lnTo>
                  <a:pt x="7635488" y="0"/>
                </a:lnTo>
                <a:lnTo>
                  <a:pt x="7635488" y="7623759"/>
                </a:lnTo>
                <a:lnTo>
                  <a:pt x="0" y="76237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700000">
            <a:off x="12436617" y="921561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713023" y="7499857"/>
            <a:ext cx="7437534" cy="1865581"/>
          </a:xfrm>
          <a:custGeom>
            <a:avLst/>
            <a:gdLst/>
            <a:ahLst/>
            <a:cxnLst/>
            <a:rect r="r" b="b" t="t" l="l"/>
            <a:pathLst>
              <a:path h="1865581" w="7437534">
                <a:moveTo>
                  <a:pt x="0" y="0"/>
                </a:moveTo>
                <a:lnTo>
                  <a:pt x="7437534" y="0"/>
                </a:lnTo>
                <a:lnTo>
                  <a:pt x="7437534" y="1865582"/>
                </a:lnTo>
                <a:lnTo>
                  <a:pt x="0" y="18655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9621" y="882167"/>
            <a:ext cx="13967810" cy="79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9"/>
              </a:lnSpc>
            </a:pPr>
            <a:r>
              <a:rPr lang="en-US" sz="5626">
                <a:solidFill>
                  <a:srgbClr val="0B0A0A"/>
                </a:solidFill>
                <a:latin typeface="Anton"/>
                <a:ea typeface="Anton"/>
                <a:cs typeface="Anton"/>
                <a:sym typeface="Anton"/>
              </a:rPr>
              <a:t>Refferences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9621" y="2177759"/>
            <a:ext cx="16001438" cy="45722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2"/>
              </a:lnSpc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[1] V. Fernández Blanc</a:t>
            </a: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o, D. C. Chisholm, W. D. Walls, S. Abraham Ravid (2015). Economics of motion picture: the state of the art. </a:t>
            </a:r>
            <a:r>
              <a:rPr lang="en-US" sz="2616" i="true">
                <a:solidFill>
                  <a:srgbClr val="0B0A0A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Journal of Cultural Economics</a:t>
            </a: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39 pp. 1-13.</a:t>
            </a:r>
          </a:p>
          <a:p>
            <a:pPr algn="l">
              <a:lnSpc>
                <a:spcPts val="3662"/>
              </a:lnSpc>
            </a:pPr>
          </a:p>
          <a:p>
            <a:pPr algn="l">
              <a:lnSpc>
                <a:spcPts val="3662"/>
              </a:lnSpc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[2] N. Terry, R. King, J. J. Walker (2010). The Determinants of Box Office Revenue for Horror Movies. </a:t>
            </a:r>
            <a:r>
              <a:rPr lang="en-US" sz="2616" i="true">
                <a:solidFill>
                  <a:srgbClr val="0B0A0A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Journal of Global Business Management</a:t>
            </a: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Vol 6. pp. 1-10.</a:t>
            </a:r>
          </a:p>
          <a:p>
            <a:pPr algn="l">
              <a:lnSpc>
                <a:spcPts val="3662"/>
              </a:lnSpc>
            </a:pPr>
          </a:p>
          <a:p>
            <a:pPr algn="l">
              <a:lnSpc>
                <a:spcPts val="3662"/>
              </a:lnSpc>
            </a:pP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[3] S. Follows (2017). How profitable are horror movies? </a:t>
            </a:r>
            <a:r>
              <a:rPr lang="en-US" sz="2616" u="sng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  <a:hlinkClick r:id="rId6" tooltip="https://stephenfollows.com/p/profitable-horror-movies"/>
              </a:rPr>
              <a:t>https://stephenfollows.com/p/profitable-horror-movies</a:t>
            </a:r>
            <a:r>
              <a:rPr lang="en-US" sz="2616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662"/>
              </a:lnSpc>
            </a:pPr>
          </a:p>
          <a:p>
            <a:pPr algn="l">
              <a:lnSpc>
                <a:spcPts val="366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DAG-lkTUhI0</dc:identifier>
  <dcterms:modified xsi:type="dcterms:W3CDTF">2011-08-01T06:04:30Z</dcterms:modified>
  <cp:revision>1</cp:revision>
  <dc:title>i</dc:title>
</cp:coreProperties>
</file>